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Roboto Mono Light"/>
      <p:regular r:id="rId15"/>
      <p:bold r:id="rId16"/>
      <p:italic r:id="rId17"/>
      <p:boldItalic r:id="rId18"/>
    </p:embeddedFont>
    <p:embeddedFont>
      <p:font typeface="Open Sans Light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.fntdata"/><Relationship Id="rId22" Type="http://schemas.openxmlformats.org/officeDocument/2006/relationships/font" Target="fonts/OpenSansLight-boldItalic.fntdata"/><Relationship Id="rId21" Type="http://schemas.openxmlformats.org/officeDocument/2006/relationships/font" Target="fonts/OpenSansLight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MonoLight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Light-italic.fntdata"/><Relationship Id="rId16" Type="http://schemas.openxmlformats.org/officeDocument/2006/relationships/font" Target="fonts/RobotoMonoLight-bold.fntdata"/><Relationship Id="rId19" Type="http://schemas.openxmlformats.org/officeDocument/2006/relationships/font" Target="fonts/OpenSansLight-regular.fntdata"/><Relationship Id="rId18" Type="http://schemas.openxmlformats.org/officeDocument/2006/relationships/font" Target="fonts/RobotoMono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f232ebcfc8d5776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f232ebcfc8d5776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f232ebcfc8d5776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1f232ebcfc8d5776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1f232ebcfc8d5776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1f232ebcfc8d5776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f232ebcfc8d5776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1f232ebcfc8d5776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10" l="0" r="0" t="3420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10" l="0" r="0" t="3420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Calculation of Basketball Scoring Probabilities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Soizic Bourgeois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basketball scoring calculations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/>
              <a:t>Overall Shooting Statistics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/>
              <a:t>Probabilities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/>
              <a:t>Conditional Probabilities - Future</a:t>
            </a:r>
            <a:endParaRPr/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/>
              <a:t>Conditional Probabilities - Retrospective</a:t>
            </a:r>
            <a:endParaRPr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Overall Shooting Statistics</a:t>
            </a:r>
            <a:endParaRPr sz="6400"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685850" y="1828800"/>
            <a:ext cx="16393800" cy="72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7700" lvl="0" marL="914400" rtl="0" algn="l">
              <a:spcBef>
                <a:spcPts val="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Overall probability of a make (result = TRUE) 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P(Make)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0.490237099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647700" lvl="0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Overall probability of a miss (result = FALSE) :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P(Miss) = 0.509762901 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= 1 - P(Make)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47700" lvl="0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Overall proportion of three-pointers (shot_type = 3) :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P(shot type 3)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0.5481171548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647700" lvl="0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Overall proportion of two-pointers (shot_type = 2) :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P(shot type 2)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0.4518828452 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		  = 1 - 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P(shot type 3)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Probabilities</a:t>
            </a:r>
            <a:endParaRPr sz="6400"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 calculate the probabilities in the next slides, we’ll make the following assumptions: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rtl="0" algn="l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shot is independent.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shot represents one of two outcomes ("success" or "failure").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probability of "success" p is the same for each outcome.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t/>
            </a:r>
            <a:endParaRPr i="1"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Probabilities</a:t>
            </a:r>
            <a:endParaRPr sz="6400"/>
          </a:p>
        </p:txBody>
      </p:sp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Given the results found on slide 4: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P(Make)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0.490237099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P(Miss) = 1-P(Make) = 0.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509762901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of Steph making 3 of the next 4 shots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13716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P(3 make out of 4) = 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0.2402407849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i="1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{&quot;type&quot;:&quot;$$&quot;,&quot;id&quot;:&quot;1&quot;,&quot;aid&quot;:null,&quot;backgroundColorModified&quot;:false,&quot;font&quot;:{&quot;size&quot;:30,&quot;family&quot;:&quot;Arial&quot;,&quot;color&quot;:&quot;#0B0B0B&quot;},&quot;code&quot;:&quot;$$P(3 \\,make \\,out \\,of \\,4)\\,=\\frac{4!}{3!\\left(4-3\\right)!}*P(Make)^{3}*P(Miss)^{(4-3) }$$&quot;,&quot;backgroundColor&quot;:&quot;#FFFFFF&quot;,&quot;fontColorModified&quot;:false,&quot;ts&quot;:1791063041634,&quot;cs&quot;:&quot;0whO/aoNzIgXDm8m5JDzNw==&quot;,&quot;size&quot;:{&quot;width&quot;:1232,&quot;height&quot;:111}}"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8419" y="4972054"/>
            <a:ext cx="117348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Probabilities</a:t>
            </a:r>
            <a:endParaRPr sz="6400"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685850" y="1828800"/>
            <a:ext cx="16393800" cy="73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Given the results on slide 4: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P(shot type 3)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0.5481171548	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P(shot type 2) = 1-P(shot type 3)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0.4518828452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that 4 of the next 5 shots are three-pointers:</a:t>
            </a:r>
            <a:endParaRPr b="1"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P(4 shot type 3 out of 5) = 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0.2039339061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descr="{&quot;code&quot;:&quot;$$P(4\\,shot\\,type\\,3\\,out \\,of \\,5)\\,=\\frac{5!}{4!\\left(5-4\\right)!}*P(shot\\,type\\,3)^{4}*P(shot\\,type\\,2)^{(5-4) }$$&quot;,&quot;backgroundColorModified&quot;:false,&quot;aid&quot;:null,&quot;type&quot;:&quot;$$&quot;,&quot;backgroundColor&quot;:&quot;#FFFFFF&quot;,&quot;fontColorModified&quot;:false,&quot;id&quot;:&quot;1&quot;,&quot;font&quot;:{&quot;family&quot;:&quot;Arial&quot;,&quot;color&quot;:&quot;#0B0B0B&quot;,&quot;size&quot;:30},&quot;ts&quot;:1791063135152,&quot;cs&quot;:&quot;tPOKAgQxIehL51fVaJOh8Q==&quot;,&quot;size&quot;:{&quot;width&quot;:1529,&quot;height&quot;:111}}"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069" y="5800049"/>
            <a:ext cx="1456372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Conditional Probabilities - Future</a:t>
            </a:r>
            <a:endParaRPr sz="6400"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685800" y="1935175"/>
            <a:ext cx="16916400" cy="670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the next shot Steph shoots is a three-pointer...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b="1"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he makes it:</a:t>
            </a:r>
            <a:endParaRPr b="1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can calculate from the data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So, 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P(make | shot type 3)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0.4185750636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b="1"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it was taken while his team had the lead (lead = True):</a:t>
            </a:r>
            <a:endParaRPr b="1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can calculate from the data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So, 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 lead | shot type 3 )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0.4936386768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endParaRPr sz="36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descr="{&quot;id&quot;:&quot;2&quot;,&quot;backgroundColorModified&quot;:false,&quot;code&quot;:&quot;\\begin{align*}\n{P\\left(make\\,/shot\\,type\\,3\\right)\\,}&amp;={\\,\\frac{P\\left(make\\,\\cap\\,shot\\,type\\,3\\right)}{P\\left(shot\\,type\\,3\\right)}}\t\n\\end{align*}&quot;,&quot;type&quot;:&quot;align*&quot;,&quot;fontColorModified&quot;:false,&quot;aid&quot;:null,&quot;backgroundColor&quot;:&quot;#FFFFFF&quot;,&quot;font&quot;:{&quot;family&quot;:&quot;Arial&quot;,&quot;color&quot;:&quot;#0B0B0B&quot;,&quot;size&quot;:30},&quot;ts&quot;:1791060839052,&quot;cs&quot;:&quot;G8gMjaJf+GXzD1tXtcZ2jg==&quot;,&quot;size&quot;:{&quot;width&quot;:1002.0000000000001,&quot;height&quot;:114.00000000000004}}"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453" y="3210676"/>
            <a:ext cx="95440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B0B0B&quot;,&quot;family&quot;:&quot;Arial&quot;,&quot;size&quot;:30},&quot;aid&quot;:null,&quot;id&quot;:&quot;3&quot;,&quot;backgroundColorModified&quot;:false,&quot;code&quot;:&quot;$$P\\left(make\\,\\cap\\,shot\\,type\\,3\\right)\\,=\\,0.2294281729$$&quot;,&quot;type&quot;:&quot;$$&quot;,&quot;backgroundColor&quot;:&quot;#FFFFFF&quot;,&quot;ts&quot;:1791071953033,&quot;cs&quot;:&quot;we44PEvuIz8EDJNMI29TQQ==&quot;,&quot;size&quot;:{&quot;width&quot;:820,&quot;height&quot;:47}}" id="148" name="Google Shape;14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9038" y="4603485"/>
            <a:ext cx="78105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align*&quot;,&quot;fontColorModified&quot;:false,&quot;id&quot;:&quot;2&quot;,&quot;backgroundColorModified&quot;:false,&quot;code&quot;:&quot;\\begin{align*}\n{P\\left(lead\\,/shot\\,type\\,3\\right)\\,}&amp;={\\,\\frac{P\\left(lead\\,\\cap\\,shot\\,type\\,3\\right)}{P\\left(shot\\,type\\,3\\right)}}\t\n\\end{align*}&quot;,&quot;backgroundColor&quot;:&quot;#FFFFFF&quot;,&quot;font&quot;:{&quot;size&quot;:30,&quot;family&quot;:&quot;Arial&quot;,&quot;color&quot;:&quot;#0B0B0B&quot;},&quot;aid&quot;:null,&quot;ts&quot;:1791060966963,&quot;cs&quot;:&quot;BVfs3xphe+ELmw5JhU85QA==&quot;,&quot;size&quot;:{&quot;width&quot;:948,&quot;height&quot;:114}}" id="149" name="Google Shape;1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628" y="6605376"/>
            <a:ext cx="90297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$$&quot;,&quot;font&quot;:{&quot;size&quot;:30,&quot;family&quot;:&quot;Arial&quot;,&quot;color&quot;:&quot;#0B0B0B&quot;},&quot;backgroundColorModified&quot;:false,&quot;code&quot;:&quot;$$P\\left(lead\\,\\cap\\,shot\\,type\\,3\\right)\\,=\\,0.2705718271$$&quot;,&quot;id&quot;:&quot;3&quot;,&quot;aid&quot;:null,&quot;fontColorModified&quot;:false,&quot;ts&quot;:1791072014095,&quot;cs&quot;:&quot;2pIgHr0lNCPqd50ImA7GFQ==&quot;,&quot;size&quot;:{&quot;width&quot;:790.5000000000001,&quot;height&quot;:47.5}}" id="150" name="Google Shape;15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3960" y="7913285"/>
            <a:ext cx="7529513" cy="45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Conditional Probabilities - Future</a:t>
            </a:r>
            <a:endParaRPr sz="6400"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685850" y="1646600"/>
            <a:ext cx="16393800" cy="6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the next shot Steph shoots is a two-pointer...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b="1"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robability he makes it:</a:t>
            </a:r>
            <a:endParaRPr b="1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can calculate from the data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So, P( make | shot type 2)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0.5771604938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b="1"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n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robability it was taken while his team had the lead (lead = True):</a:t>
            </a:r>
            <a:endParaRPr b="1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can calculate from the data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So, P( lead | shot type 2)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0.5154320988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descr="{&quot;fontColorModified&quot;:false,&quot;id&quot;:&quot;2&quot;,&quot;backgroundColorModified&quot;:false,&quot;backgroundColor&quot;:&quot;#FFFFFF&quot;,&quot;type&quot;:&quot;align*&quot;,&quot;aid&quot;:null,&quot;font&quot;:{&quot;family&quot;:&quot;Arial&quot;,&quot;color&quot;:&quot;#0B0B0B&quot;,&quot;size&quot;:30},&quot;code&quot;:&quot;\\begin{align*}\n{P\\left(make\\,/shot\\,type\\,2\\right)\\,}&amp;={\\,\\frac{P\\left(make\\,\\cap\\,shot\\,type\\,2\\right)}{P\\left(shot\\,type\\,2\\right)}}\t\n\\end{align*}&quot;,&quot;ts&quot;:1791061331368,&quot;cs&quot;:&quot;pycUTwqS3/xuNnMZduuDGw==&quot;,&quot;size&quot;:{&quot;width&quot;:1002.0000000000001,&quot;height&quot;:114.00000000000004}}"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503" y="3006976"/>
            <a:ext cx="95440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P\\left(make\\,\\cap\\,shot\\,type\\,2\\right)\\,=\\,0.2606271777$$&quot;,&quot;fontColorModified&quot;:false,&quot;backgroundColor&quot;:&quot;#FFFFFF&quot;,&quot;id&quot;:&quot;3&quot;,&quot;type&quot;:&quot;$$&quot;,&quot;aid&quot;:null,&quot;backgroundColorModified&quot;:false,&quot;font&quot;:{&quot;family&quot;:&quot;Arial&quot;,&quot;size&quot;:30,&quot;color&quot;:&quot;#0B0B0B&quot;},&quot;ts&quot;:1791061500639,&quot;cs&quot;:&quot;e2p/c2WKfW1hHcOQ/sGROw==&quot;,&quot;size&quot;:{&quot;width&quot;:821,&quot;height&quot;:47}}" id="158" name="Google Shape;15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1700" y="4441211"/>
            <a:ext cx="78200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id&quot;:&quot;2&quot;,&quot;aid&quot;:null,&quot;fontColorModified&quot;:false,&quot;font&quot;:{&quot;family&quot;:&quot;Arial&quot;,&quot;size&quot;:30,&quot;color&quot;:&quot;#0B0B0B&quot;},&quot;code&quot;:&quot;\\begin{align*}\n{P\\left(lead\\,/shot\\,type\\,2\\right)\\,}&amp;={\\,\\frac{P\\left(lead\\,\\cap\\,shot\\,type\\,2\\right)}{P\\left(shot\\,type\\,2\\right)}}\t\n\\end{align*}&quot;,&quot;type&quot;:&quot;align*&quot;,&quot;ts&quot;:1791061663301,&quot;cs&quot;:&quot;zv01Xx2z3Lb/f/dcJyo12w==&quot;,&quot;size&quot;:{&quot;width&quot;:948,&quot;height&quot;:114}}" id="159" name="Google Shape;15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0678" y="6452601"/>
            <a:ext cx="90297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B0B0B&quot;,&quot;size&quot;:30,&quot;family&quot;:&quot;Arial&quot;},&quot;code&quot;:&quot;$$P\\left(lead\\cap\\,shot\\,type\\,2\\right)\\,=0.2608089261\\,$$&quot;,&quot;aid&quot;:null,&quot;backgroundColor&quot;:&quot;#FFFFFF&quot;,&quot;backgroundColorModified&quot;:false,&quot;id&quot;:&quot;3&quot;,&quot;type&quot;:&quot;$$&quot;,&quot;fontColorModified&quot;:false,&quot;ts&quot;:1791072077746,&quot;cs&quot;:&quot;3b7AAeEbxgfiG/+LXPYISA==&quot;,&quot;size&quot;:{&quot;width&quot;:774.5,&quot;height&quot;:47.5}}" id="160" name="Google Shape;16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4559" y="7954736"/>
            <a:ext cx="7377113" cy="45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Conditional Probabilities - Retrospective</a:t>
            </a:r>
            <a:endParaRPr sz="6400"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If Steph just made a shot...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that it was a three-pointer: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already know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So, P(shot type 3 | made)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.4679943101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spcBef>
                <a:spcPts val="1100"/>
              </a:spcBef>
              <a:spcAft>
                <a:spcPts val="0"/>
              </a:spcAft>
              <a:buClr>
                <a:srgbClr val="0B0B0B"/>
              </a:buClr>
              <a:buSzPts val="3000"/>
              <a:buFont typeface="Arial"/>
              <a:buChar char="●"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that it was a two-pointer (can only be a 2-pointer or a 3-pointer) :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already know </a:t>
            </a:r>
            <a:endParaRPr sz="3000">
              <a:solidFill>
                <a:srgbClr val="0B0B0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So, </a:t>
            </a:r>
            <a:r>
              <a:rPr lang="en" sz="3000">
                <a:solidFill>
                  <a:srgbClr val="0B0B0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P(shot type 2 | made) = </a:t>
            </a: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0.5320056899 </a:t>
            </a:r>
            <a:endParaRPr sz="3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descr="{&quot;code&quot;:&quot;\\begin{align*}\n{P\\left(shot\\,type\\,3\\,/make\\right)\\,}&amp;={\\,\\frac{P\\left(make\\,\\cap\\,shot\\,type\\,3\\right)}{P\\left(make\\right)}}\t\n\\end{align*}&quot;,&quot;backgroundColor&quot;:&quot;#FFFFFF&quot;,&quot;id&quot;:&quot;2&quot;,&quot;backgroundColorModified&quot;:false,&quot;type&quot;:&quot;align*&quot;,&quot;fontColorModified&quot;:false,&quot;font&quot;:{&quot;size&quot;:30,&quot;color&quot;:&quot;#0B0B0B&quot;,&quot;family&quot;:&quot;Arial&quot;},&quot;aid&quot;:null,&quot;ts&quot;:1791062173092,&quot;cs&quot;:&quot;DQSzpZ8rMqoVFnbo64Ss/g==&quot;,&quot;size&quot;:{&quot;width&quot;:1002.0000000000001,&quot;height&quot;:114.00000000000004}}"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453" y="3261601"/>
            <a:ext cx="95440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P\\left(make\\,\\cap\\,shot\\,type\\,3\\right)\\,=\\,0.2294281729\\,$$&quot;,&quot;aid&quot;:null,&quot;type&quot;:&quot;$$&quot;,&quot;backgroundColor&quot;:&quot;#FFFFFF&quot;,&quot;backgroundColorModified&quot;:false,&quot;font&quot;:{&quot;color&quot;:&quot;#0B0B0B&quot;,&quot;size&quot;:30,&quot;family&quot;:&quot;Arial&quot;},&quot;id&quot;:&quot;3&quot;,&quot;fontColorModified&quot;:false,&quot;ts&quot;:1791072127406,&quot;cs&quot;:&quot;b0m9e6D8sev05x+JdHCD2Q==&quot;,&quot;size&quot;:{&quot;width&quot;:820,&quot;height&quot;:47}}" id="168" name="Google Shape;16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525" y="4695835"/>
            <a:ext cx="78105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type&quot;:&quot;align*&quot;,&quot;aid&quot;:null,&quot;font&quot;:{&quot;color&quot;:&quot;#0B0B0B&quot;,&quot;family&quot;:&quot;Arial&quot;,&quot;size&quot;:30},&quot;fontColorModified&quot;:false,&quot;id&quot;:&quot;2&quot;,&quot;backgroundColorModified&quot;:false,&quot;code&quot;:&quot;\\begin{align*}\n{P\\left(shot\\,type\\,2\\,/make\\right)\\,}&amp;={1-P\\left(shot\\,type\\,3\\,/make\\right)\\,=\\,\\frac{P\\left(make\\,\\cap\\,shot\\,type\\,2\\right)}{P\\left(make\\right)}}\t\n\\end{align*}&quot;,&quot;ts&quot;:1791062724070,&quot;cs&quot;:&quot;TvOmgGqFcWJRVOXyM8MUEw==&quot;,&quot;size&quot;:{&quot;width&quot;:1590,&quot;height&quot;:114}}" id="169" name="Google Shape;1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78" y="6578956"/>
            <a:ext cx="15144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ColorModified&quot;:false,&quot;backgroundColorModified&quot;:false,&quot;id&quot;:&quot;3&quot;,&quot;aid&quot;:null,&quot;type&quot;:&quot;$$&quot;,&quot;backgroundColor&quot;:&quot;#FFFFFF&quot;,&quot;code&quot;:&quot;$$P\\left(make\\,\\cap\\,shot\\,type\\,2\\right)\\,=\\,0.2608089261$$&quot;,&quot;font&quot;:{&quot;color&quot;:&quot;#0B0B0B&quot;,&quot;family&quot;:&quot;Arial&quot;,&quot;size&quot;:30},&quot;ts&quot;:1791072185048,&quot;cs&quot;:&quot;yGVqBiJdkLe3zY2RHi2+Ng==&quot;,&quot;size&quot;:{&quot;width&quot;:818,&quot;height&quot;:47}}" id="170" name="Google Shape;17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4063" y="8022361"/>
            <a:ext cx="779145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